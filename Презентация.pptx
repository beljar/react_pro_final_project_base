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8" r:id="rId4"/>
    <p:sldId id="265" r:id="rId5"/>
    <p:sldId id="266" r:id="rId6"/>
    <p:sldId id="267" r:id="rId7"/>
    <p:sldId id="280" r:id="rId8"/>
    <p:sldId id="281" r:id="rId9"/>
    <p:sldId id="268" r:id="rId11"/>
    <p:sldId id="282" r:id="rId12"/>
    <p:sldId id="276" r:id="rId13"/>
    <p:sldId id="277" r:id="rId14"/>
    <p:sldId id="278" r:id="rId15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0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168" y="58"/>
      </p:cViewPr>
      <p:guideLst>
        <p:guide pos="3840"/>
        <p:guide orient="horz" pos="20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3C7537F-8F8F-4855-8202-10BE4D9E024A}" type="slidenum">
              <a: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ru-RU" sz="12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 hasCustomPrompt="1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36000" tIns="36000" rIns="36000" bIns="36000" anchor="t">
            <a:normAutofit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60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текста заглавия щёлкните мышью</a:t>
            </a:r>
            <a:endParaRPr lang="ru-RU" sz="60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327E907-E825-4BEA-A06A-F60E705763D6}" type="slidenum">
              <a: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ru-RU" sz="12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TWO_OBJEC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 hasCustomPrompt="1"/>
          </p:nvPr>
        </p:nvSpPr>
        <p:spPr bwMode="auto"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C771967-C786-4657-95DE-4E24D32CAA61}" type="slidenum">
              <a: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ru-RU" sz="12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TWO_OBJECTS_WITH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839879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839879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 hasCustomPrompt="1"/>
          </p:nvPr>
        </p:nvSpPr>
        <p:spPr bwMode="auto">
          <a:xfrm>
            <a:off x="839879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 hasCustomPrompt="1"/>
          </p:nvPr>
        </p:nvSpPr>
        <p:spPr bwMode="auto"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 hasCustomPrompt="1"/>
          </p:nvPr>
        </p:nvSpPr>
        <p:spPr bwMode="auto"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3" name="PlaceHolder 8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499BD5A-1A02-4EA6-9E9E-ACD911A0C2F3}" type="slidenum">
              <a: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ru-RU" sz="12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OBJECT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839879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D7A5E01-64B5-4E95-B252-6966C2FA7755}" type="slidenum">
              <a: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ru-RU" sz="12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PICTURE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839879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 hasCustomPrompt="1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DD2252B-3676-4B8D-9AEC-DE27AD2BED86}" type="slidenum">
              <a: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ru-RU" sz="12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PhAnim="0" userDrawn="1">
  <p:cSld name="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 hasCustomPrompt="1"/>
          </p:nvPr>
        </p:nvSpPr>
        <p:spPr bwMode="auto">
          <a:xfrm rot="5400000">
            <a:off x="3920760" y="-1256040"/>
            <a:ext cx="4350600" cy="1051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AD00CC3-21C9-4D5C-B04A-41DE5DC29B83}" type="slidenum">
              <a: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ru-RU" sz="12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VERTICAL_TITLE_AND_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 hasCustomPrompt="1"/>
          </p:nvPr>
        </p:nvSpPr>
        <p:spPr bwMode="auto">
          <a:xfrm rot="5400000">
            <a:off x="7133760" y="1956240"/>
            <a:ext cx="5811120" cy="262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 hasCustomPrompt="1"/>
          </p:nvPr>
        </p:nvSpPr>
        <p:spPr bwMode="auto">
          <a:xfrm rot="5400000">
            <a:off x="1800360" y="-596160"/>
            <a:ext cx="5811120" cy="77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10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10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 panose="020B0604020202020204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 panose="02020603050405020304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CF4C71A-1802-46DD-8279-7EF8C9B8608B}" type="slidenum">
              <a:rPr lang="ru-RU" sz="1200" b="0" u="none" strike="noStrike">
                <a:solidFill>
                  <a:srgbClr val="888888"/>
                </a:solidFill>
                <a:latin typeface="Calibri" panose="020F0502020204030204"/>
                <a:ea typeface="Calibri" panose="020F0502020204030204"/>
              </a:rPr>
            </a:fld>
            <a:endParaRPr lang="ru-RU" sz="1200" b="0" u="none" strike="noStrike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jpe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23.xml"/><Relationship Id="rId30" Type="http://schemas.openxmlformats.org/officeDocument/2006/relationships/tags" Target="../tags/tag22.xml"/><Relationship Id="rId3" Type="http://schemas.openxmlformats.org/officeDocument/2006/relationships/tags" Target="../tags/tag3.xml"/><Relationship Id="rId29" Type="http://schemas.openxmlformats.org/officeDocument/2006/relationships/tags" Target="../tags/tag21.xml"/><Relationship Id="rId28" Type="http://schemas.openxmlformats.org/officeDocument/2006/relationships/tags" Target="../tags/tag20.xml"/><Relationship Id="rId27" Type="http://schemas.openxmlformats.org/officeDocument/2006/relationships/tags" Target="../tags/tag19.xml"/><Relationship Id="rId26" Type="http://schemas.openxmlformats.org/officeDocument/2006/relationships/tags" Target="../tags/tag18.xml"/><Relationship Id="rId25" Type="http://schemas.openxmlformats.org/officeDocument/2006/relationships/image" Target="../media/image19.png"/><Relationship Id="rId24" Type="http://schemas.openxmlformats.org/officeDocument/2006/relationships/tags" Target="../tags/tag17.xml"/><Relationship Id="rId23" Type="http://schemas.openxmlformats.org/officeDocument/2006/relationships/image" Target="../media/image18.png"/><Relationship Id="rId22" Type="http://schemas.openxmlformats.org/officeDocument/2006/relationships/tags" Target="../tags/tag16.xml"/><Relationship Id="rId21" Type="http://schemas.openxmlformats.org/officeDocument/2006/relationships/image" Target="../media/image17.png"/><Relationship Id="rId20" Type="http://schemas.openxmlformats.org/officeDocument/2006/relationships/tags" Target="../tags/tag15.xml"/><Relationship Id="rId2" Type="http://schemas.openxmlformats.org/officeDocument/2006/relationships/tags" Target="../tags/tag2.xml"/><Relationship Id="rId19" Type="http://schemas.openxmlformats.org/officeDocument/2006/relationships/image" Target="../media/image16.png"/><Relationship Id="rId18" Type="http://schemas.openxmlformats.org/officeDocument/2006/relationships/tags" Target="../tags/tag14.xml"/><Relationship Id="rId17" Type="http://schemas.openxmlformats.org/officeDocument/2006/relationships/image" Target="../media/image15.png"/><Relationship Id="rId16" Type="http://schemas.openxmlformats.org/officeDocument/2006/relationships/tags" Target="../tags/tag13.xml"/><Relationship Id="rId15" Type="http://schemas.openxmlformats.org/officeDocument/2006/relationships/image" Target="../media/image14.png"/><Relationship Id="rId14" Type="http://schemas.openxmlformats.org/officeDocument/2006/relationships/tags" Target="../tags/tag12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" name="Google Shape;73;p2"/>
          <p:cNvPicPr/>
          <p:nvPr/>
        </p:nvPicPr>
        <p:blipFill>
          <a:blip r:embed="rId1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74;p2"/>
          <p:cNvPicPr/>
          <p:nvPr/>
        </p:nvPicPr>
        <p:blipFill>
          <a:blip r:embed="rId2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75;p2"/>
          <p:cNvSpPr/>
          <p:nvPr/>
        </p:nvSpPr>
        <p:spPr bwMode="auto">
          <a:xfrm>
            <a:off x="522360" y="929879"/>
            <a:ext cx="1094796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>
                <a:solidFill>
                  <a:srgbClr val="082326"/>
                </a:solidFill>
                <a:latin typeface="Montserrat ExtraBold"/>
                <a:ea typeface="Montserrat ExtraBold"/>
              </a:rPr>
              <a:t>Shortlist кандидатов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" name="Google Shape;76;p2"/>
          <p:cNvSpPr/>
          <p:nvPr/>
        </p:nvSpPr>
        <p:spPr bwMode="auto">
          <a:xfrm>
            <a:off x="527400" y="1364040"/>
            <a:ext cx="109432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800" b="1" u="none" strike="noStrike">
                <a:solidFill>
                  <a:schemeClr val="dk1"/>
                </a:solidFill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lang="ru-RU" sz="1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6" name="Google Shape;77;p2"/>
          <p:cNvCxnSpPr/>
          <p:nvPr/>
        </p:nvCxnSpPr>
        <p:spPr bwMode="auto">
          <a:xfrm>
            <a:off x="0" y="34502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7" name="Google Shape;78;p2"/>
          <p:cNvCxnSpPr/>
          <p:nvPr/>
        </p:nvCxnSpPr>
        <p:spPr bwMode="auto">
          <a:xfrm>
            <a:off x="0" y="41630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9;p2"/>
          <p:cNvCxnSpPr/>
          <p:nvPr/>
        </p:nvCxnSpPr>
        <p:spPr bwMode="auto">
          <a:xfrm>
            <a:off x="0" y="48758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59" name="Google Shape;80;p2"/>
          <p:cNvSpPr/>
          <p:nvPr/>
        </p:nvSpPr>
        <p:spPr bwMode="auto">
          <a:xfrm>
            <a:off x="522360" y="2203200"/>
            <a:ext cx="200772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Название проекта</a:t>
            </a:r>
            <a:endParaRPr lang="ru-RU" sz="1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" name="Google Shape;81;p2"/>
          <p:cNvSpPr/>
          <p:nvPr/>
        </p:nvSpPr>
        <p:spPr bwMode="auto">
          <a:xfrm>
            <a:off x="4216680" y="2203200"/>
            <a:ext cx="270216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Какую бизнес-задачу решаем?</a:t>
            </a:r>
            <a:endParaRPr lang="ru-RU" sz="1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Google Shape;82;p2"/>
          <p:cNvSpPr/>
          <p:nvPr/>
        </p:nvSpPr>
        <p:spPr bwMode="auto">
          <a:xfrm>
            <a:off x="8605080" y="2203200"/>
            <a:ext cx="336024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Краткое описание </a:t>
            </a:r>
            <a:br>
              <a:rPr sz="1400"/>
            </a:br>
            <a:r>
              <a:rPr lang="ru-RU" sz="1200" b="1" u="none" strike="noStrike">
                <a:solidFill>
                  <a:schemeClr val="dk1"/>
                </a:solidFill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lang="ru-RU" sz="12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2" name="Google Shape;83;p2"/>
          <p:cNvCxnSpPr/>
          <p:nvPr/>
        </p:nvCxnSpPr>
        <p:spPr bwMode="auto">
          <a:xfrm>
            <a:off x="87840" y="558828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3" name="Google Shape;84;p2"/>
          <p:cNvCxnSpPr/>
          <p:nvPr/>
        </p:nvCxnSpPr>
        <p:spPr bwMode="auto">
          <a:xfrm flipV="1">
            <a:off x="334548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5;p2"/>
          <p:cNvCxnSpPr/>
          <p:nvPr/>
        </p:nvCxnSpPr>
        <p:spPr bwMode="auto">
          <a:xfrm flipV="1">
            <a:off x="770400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5" name="Google Shape;86;p2"/>
          <p:cNvPicPr/>
          <p:nvPr/>
        </p:nvPicPr>
        <p:blipFill>
          <a:blip r:embed="rId3"/>
          <a:srcRect l="10" r="7"/>
          <a:stretch>
            <a:fillRect/>
          </a:stretch>
        </p:blipFill>
        <p:spPr bwMode="auto">
          <a:xfrm>
            <a:off x="1080" y="0"/>
            <a:ext cx="121892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 bwMode="auto">
          <a:xfrm>
            <a:off x="635040" y="1991160"/>
            <a:ext cx="8900279" cy="27995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5400" b="1" dirty="0">
                <a:solidFill>
                  <a:srgbClr val="082326"/>
                </a:solidFill>
                <a:latin typeface="Montserrat"/>
                <a:ea typeface="Montserrat"/>
              </a:rPr>
              <a:t>Разработка интернет-магазина </a:t>
            </a:r>
            <a:r>
              <a:rPr lang="en-US" sz="5400" b="1" dirty="0" err="1" smtClean="0">
                <a:solidFill>
                  <a:srgbClr val="082326"/>
                </a:solidFill>
                <a:latin typeface="Montserrat"/>
                <a:ea typeface="Montserrat"/>
              </a:rPr>
              <a:t>DogFood</a:t>
            </a:r>
            <a:endParaRPr lang="ru-RU" sz="5400" b="0" u="none" strike="noStrike" dirty="0" smtClean="0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endParaRPr lang="ru-RU" sz="3600" b="0" u="none" strike="noStrike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" name="Google Shape;89;p2"/>
          <p:cNvSpPr/>
          <p:nvPr/>
        </p:nvSpPr>
        <p:spPr bwMode="auto">
          <a:xfrm>
            <a:off x="527400" y="5784120"/>
            <a:ext cx="4079160" cy="8383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3600" b="0" u="none" strike="noStrike" dirty="0" smtClean="0">
                <a:solidFill>
                  <a:srgbClr val="082326"/>
                </a:solidFill>
                <a:latin typeface="Montserrat"/>
                <a:ea typeface="Montserrat"/>
              </a:rPr>
              <a:t>ФИО</a:t>
            </a:r>
            <a:endParaRPr lang="ru-RU" sz="3600" b="0" u="none" strike="noStrike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 descr="react_original_wordmark_logo_icon_1463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7685" y="2229485"/>
            <a:ext cx="1187450" cy="1187450"/>
          </a:xfrm>
          <a:prstGeom prst="rect">
            <a:avLst/>
          </a:prstGeom>
        </p:spPr>
      </p:pic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Используемые технологии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3" name="Picture 2" descr="imag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968115"/>
            <a:ext cx="1536700" cy="1152525"/>
          </a:xfrm>
          <a:prstGeom prst="rect">
            <a:avLst/>
          </a:prstGeom>
        </p:spPr>
      </p:pic>
      <p:pic>
        <p:nvPicPr>
          <p:cNvPr id="4" name="Picture 3" descr="Git-logo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4199255"/>
            <a:ext cx="1473835" cy="615950"/>
          </a:xfrm>
          <a:prstGeom prst="rect">
            <a:avLst/>
          </a:prstGeom>
        </p:spPr>
      </p:pic>
      <p:pic>
        <p:nvPicPr>
          <p:cNvPr id="5" name="Picture 4" descr="GitHu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5730" y="3916680"/>
            <a:ext cx="1965960" cy="1106170"/>
          </a:xfrm>
          <a:prstGeom prst="rect">
            <a:avLst/>
          </a:prstGeom>
        </p:spPr>
      </p:pic>
      <p:pic>
        <p:nvPicPr>
          <p:cNvPr id="7" name="Picture 6" descr="Npm-logo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393950"/>
            <a:ext cx="2461895" cy="957580"/>
          </a:xfrm>
          <a:prstGeom prst="rect">
            <a:avLst/>
          </a:prstGeom>
        </p:spPr>
      </p:pic>
      <p:pic>
        <p:nvPicPr>
          <p:cNvPr id="9" name="Picture 8" descr="images (5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818890"/>
            <a:ext cx="2606675" cy="1301750"/>
          </a:xfrm>
          <a:prstGeom prst="rect">
            <a:avLst/>
          </a:prstGeom>
        </p:spPr>
      </p:pic>
      <p:pic>
        <p:nvPicPr>
          <p:cNvPr id="10" name="Picture 9" descr="images (1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4015" y="2348865"/>
            <a:ext cx="2140585" cy="1133475"/>
          </a:xfrm>
          <a:prstGeom prst="rect">
            <a:avLst/>
          </a:prstGeom>
        </p:spPr>
      </p:pic>
      <p:pic>
        <p:nvPicPr>
          <p:cNvPr id="11" name="Picture 10" descr="images (2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2260" y="4096385"/>
            <a:ext cx="2217420" cy="864870"/>
          </a:xfrm>
          <a:prstGeom prst="rect">
            <a:avLst/>
          </a:prstGeom>
        </p:spPr>
      </p:pic>
      <p:pic>
        <p:nvPicPr>
          <p:cNvPr id="12" name="Picture 11" descr="Typescript_logo_2020.sv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9060" y="2380615"/>
            <a:ext cx="963295" cy="963295"/>
          </a:xfrm>
          <a:prstGeom prst="rect">
            <a:avLst/>
          </a:prstGeom>
        </p:spPr>
      </p:pic>
      <p:pic>
        <p:nvPicPr>
          <p:cNvPr id="13" name="Picture 12" descr="images"/>
          <p:cNvPicPr>
            <a:picLocks noChangeAspect="1"/>
          </p:cNvPicPr>
          <p:nvPr/>
        </p:nvPicPr>
        <p:blipFill>
          <a:blip r:embed="rId12"/>
          <a:srcRect l="31059" t="13775" r="30123" b="17107"/>
          <a:stretch>
            <a:fillRect/>
          </a:stretch>
        </p:blipFill>
        <p:spPr>
          <a:xfrm>
            <a:off x="982980" y="2380615"/>
            <a:ext cx="963295" cy="963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Rectangles 21"/>
          <p:cNvSpPr/>
          <p:nvPr>
            <p:custDataLst>
              <p:tags r:id="rId1"/>
            </p:custDataLst>
          </p:nvPr>
        </p:nvSpPr>
        <p:spPr>
          <a:xfrm>
            <a:off x="9780905" y="2132965"/>
            <a:ext cx="1612900" cy="429260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5" name="Text Box 24"/>
          <p:cNvSpPr txBox="1"/>
          <p:nvPr>
            <p:custDataLst>
              <p:tags r:id="rId2"/>
            </p:custDataLst>
          </p:nvPr>
        </p:nvSpPr>
        <p:spPr>
          <a:xfrm>
            <a:off x="9814560" y="2162175"/>
            <a:ext cx="1541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Shared</a:t>
            </a:r>
            <a:endParaRPr lang="en-US" altLang="en-GB"/>
          </a:p>
        </p:txBody>
      </p:sp>
      <p:sp>
        <p:nvSpPr>
          <p:cNvPr id="20" name="Rectangles 19"/>
          <p:cNvSpPr/>
          <p:nvPr>
            <p:custDataLst>
              <p:tags r:id="rId3"/>
            </p:custDataLst>
          </p:nvPr>
        </p:nvSpPr>
        <p:spPr>
          <a:xfrm>
            <a:off x="598805" y="2190750"/>
            <a:ext cx="1612900" cy="429260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1" name="Text Box 20"/>
          <p:cNvSpPr txBox="1"/>
          <p:nvPr>
            <p:custDataLst>
              <p:tags r:id="rId4"/>
            </p:custDataLst>
          </p:nvPr>
        </p:nvSpPr>
        <p:spPr>
          <a:xfrm>
            <a:off x="632460" y="2219960"/>
            <a:ext cx="1541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App</a:t>
            </a:r>
            <a:endParaRPr lang="en-US" altLang="en-US"/>
          </a:p>
        </p:txBody>
      </p:sp>
      <p:sp>
        <p:nvSpPr>
          <p:cNvPr id="18" name="Rectangles 17"/>
          <p:cNvSpPr/>
          <p:nvPr>
            <p:custDataLst>
              <p:tags r:id="rId5"/>
            </p:custDataLst>
          </p:nvPr>
        </p:nvSpPr>
        <p:spPr>
          <a:xfrm>
            <a:off x="2423795" y="2190750"/>
            <a:ext cx="1612900" cy="429260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9" name="Text Box 18"/>
          <p:cNvSpPr txBox="1"/>
          <p:nvPr>
            <p:custDataLst>
              <p:tags r:id="rId6"/>
            </p:custDataLst>
          </p:nvPr>
        </p:nvSpPr>
        <p:spPr>
          <a:xfrm>
            <a:off x="2457450" y="2219960"/>
            <a:ext cx="1541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Pages</a:t>
            </a:r>
            <a:endParaRPr lang="en-US" altLang="en-GB"/>
          </a:p>
        </p:txBody>
      </p:sp>
      <p:sp>
        <p:nvSpPr>
          <p:cNvPr id="16" name="Rectangles 15"/>
          <p:cNvSpPr/>
          <p:nvPr>
            <p:custDataLst>
              <p:tags r:id="rId7"/>
            </p:custDataLst>
          </p:nvPr>
        </p:nvSpPr>
        <p:spPr>
          <a:xfrm>
            <a:off x="4248785" y="2161540"/>
            <a:ext cx="1612900" cy="429260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7" name="Text Box 16"/>
          <p:cNvSpPr txBox="1"/>
          <p:nvPr>
            <p:custDataLst>
              <p:tags r:id="rId8"/>
            </p:custDataLst>
          </p:nvPr>
        </p:nvSpPr>
        <p:spPr>
          <a:xfrm>
            <a:off x="4282440" y="2190750"/>
            <a:ext cx="1541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Widgets</a:t>
            </a:r>
            <a:endParaRPr lang="en-US" altLang="en-GB"/>
          </a:p>
        </p:txBody>
      </p:sp>
      <p:sp>
        <p:nvSpPr>
          <p:cNvPr id="12" name="Rectangles 11"/>
          <p:cNvSpPr/>
          <p:nvPr>
            <p:custDataLst>
              <p:tags r:id="rId9"/>
            </p:custDataLst>
          </p:nvPr>
        </p:nvSpPr>
        <p:spPr>
          <a:xfrm>
            <a:off x="6096000" y="2161540"/>
            <a:ext cx="1612900" cy="429260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" name="Text Box 12"/>
          <p:cNvSpPr txBox="1"/>
          <p:nvPr>
            <p:custDataLst>
              <p:tags r:id="rId10"/>
            </p:custDataLst>
          </p:nvPr>
        </p:nvSpPr>
        <p:spPr>
          <a:xfrm>
            <a:off x="6129655" y="2190750"/>
            <a:ext cx="1541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Features</a:t>
            </a:r>
            <a:endParaRPr lang="en-US" altLang="en-GB"/>
          </a:p>
        </p:txBody>
      </p:sp>
      <p:sp>
        <p:nvSpPr>
          <p:cNvPr id="10" name="Rectangles 9"/>
          <p:cNvSpPr/>
          <p:nvPr>
            <p:custDataLst>
              <p:tags r:id="rId11"/>
            </p:custDataLst>
          </p:nvPr>
        </p:nvSpPr>
        <p:spPr>
          <a:xfrm>
            <a:off x="7967980" y="2161540"/>
            <a:ext cx="1612900" cy="429260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75" name="Google Shape;106;g2ec9d073a02_0_5"/>
          <p:cNvPicPr/>
          <p:nvPr/>
        </p:nvPicPr>
        <p:blipFill>
          <a:blip r:embed="rId12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13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11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Архитектура</a:t>
            </a:r>
            <a:r>
              <a:rPr lang="en-US" alt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 FSD</a:t>
            </a:r>
            <a:endParaRPr lang="ru-RU" altLang="ru-RU" sz="2600" u="none" strike="noStrike" dirty="0" smtClean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</a:endParaRPr>
          </a:p>
        </p:txBody>
      </p:sp>
      <p:pic>
        <p:nvPicPr>
          <p:cNvPr id="2" name="Picture 1" descr="2026-08-23_19h16_4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r="19974" b="2437"/>
          <a:stretch>
            <a:fillRect/>
          </a:stretch>
        </p:blipFill>
        <p:spPr>
          <a:xfrm>
            <a:off x="730250" y="3786505"/>
            <a:ext cx="1300480" cy="578485"/>
          </a:xfrm>
          <a:prstGeom prst="rect">
            <a:avLst/>
          </a:prstGeom>
        </p:spPr>
      </p:pic>
      <p:pic>
        <p:nvPicPr>
          <p:cNvPr id="3" name="Picture 2" descr="2026-08-23_19h17_4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467610" y="3058795"/>
            <a:ext cx="1525905" cy="2033270"/>
          </a:xfrm>
          <a:prstGeom prst="rect">
            <a:avLst/>
          </a:prstGeom>
        </p:spPr>
      </p:pic>
      <p:pic>
        <p:nvPicPr>
          <p:cNvPr id="4" name="Picture 3" descr="2026-08-23_19h18_0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265295" y="2947670"/>
            <a:ext cx="1596390" cy="2256155"/>
          </a:xfrm>
          <a:prstGeom prst="rect">
            <a:avLst/>
          </a:prstGeom>
        </p:spPr>
      </p:pic>
      <p:pic>
        <p:nvPicPr>
          <p:cNvPr id="5" name="Picture 4" descr="2026-08-23_19h17_3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6123305" y="2852420"/>
            <a:ext cx="1583055" cy="2482215"/>
          </a:xfrm>
          <a:prstGeom prst="rect">
            <a:avLst/>
          </a:prstGeom>
        </p:spPr>
      </p:pic>
      <p:pic>
        <p:nvPicPr>
          <p:cNvPr id="6" name="Picture 5" descr="2026-08-23_19h17_29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8026400" y="3068955"/>
            <a:ext cx="1470025" cy="1978660"/>
          </a:xfrm>
          <a:prstGeom prst="rect">
            <a:avLst/>
          </a:prstGeom>
        </p:spPr>
      </p:pic>
      <p:pic>
        <p:nvPicPr>
          <p:cNvPr id="7" name="Picture 6" descr="2026-08-23_19h17_55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9840595" y="2564765"/>
            <a:ext cx="1494155" cy="3333115"/>
          </a:xfrm>
          <a:prstGeom prst="rect">
            <a:avLst/>
          </a:prstGeom>
        </p:spPr>
      </p:pic>
      <p:sp>
        <p:nvSpPr>
          <p:cNvPr id="11" name="Text Box 10"/>
          <p:cNvSpPr txBox="1"/>
          <p:nvPr>
            <p:custDataLst>
              <p:tags r:id="rId26"/>
            </p:custDataLst>
          </p:nvPr>
        </p:nvSpPr>
        <p:spPr>
          <a:xfrm>
            <a:off x="8001635" y="2190750"/>
            <a:ext cx="1541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Entities</a:t>
            </a:r>
            <a:endParaRPr lang="en-US" altLang="en-GB"/>
          </a:p>
        </p:txBody>
      </p:sp>
      <p:cxnSp>
        <p:nvCxnSpPr>
          <p:cNvPr id="27" name="Straight Arrow Connector 26"/>
          <p:cNvCxnSpPr>
            <a:stCxn id="22" idx="1"/>
          </p:cNvCxnSpPr>
          <p:nvPr/>
        </p:nvCxnSpPr>
        <p:spPr>
          <a:xfrm flipH="1">
            <a:off x="9643745" y="4279265"/>
            <a:ext cx="1371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>
            <p:custDataLst>
              <p:tags r:id="rId27"/>
            </p:custDataLst>
          </p:nvPr>
        </p:nvSpPr>
        <p:spPr>
          <a:xfrm rot="16200000">
            <a:off x="8895080" y="3963670"/>
            <a:ext cx="1570990" cy="2159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9" name="Isosceles Triangle 28"/>
          <p:cNvSpPr/>
          <p:nvPr>
            <p:custDataLst>
              <p:tags r:id="rId28"/>
            </p:custDataLst>
          </p:nvPr>
        </p:nvSpPr>
        <p:spPr>
          <a:xfrm rot="16200000">
            <a:off x="7052945" y="3950335"/>
            <a:ext cx="1570990" cy="2159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0" name="Isosceles Triangle 29"/>
          <p:cNvSpPr/>
          <p:nvPr>
            <p:custDataLst>
              <p:tags r:id="rId29"/>
            </p:custDataLst>
          </p:nvPr>
        </p:nvSpPr>
        <p:spPr>
          <a:xfrm rot="16200000">
            <a:off x="5193030" y="3950335"/>
            <a:ext cx="1570990" cy="2159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1" name="Isosceles Triangle 30"/>
          <p:cNvSpPr/>
          <p:nvPr>
            <p:custDataLst>
              <p:tags r:id="rId30"/>
            </p:custDataLst>
          </p:nvPr>
        </p:nvSpPr>
        <p:spPr>
          <a:xfrm rot="16200000">
            <a:off x="3362960" y="3950335"/>
            <a:ext cx="1570990" cy="2159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32" name="Isosceles Triangle 31"/>
          <p:cNvSpPr/>
          <p:nvPr>
            <p:custDataLst>
              <p:tags r:id="rId31"/>
            </p:custDataLst>
          </p:nvPr>
        </p:nvSpPr>
        <p:spPr>
          <a:xfrm rot="16200000">
            <a:off x="1532890" y="3963670"/>
            <a:ext cx="1570990" cy="2159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1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2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11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alt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Архитектура </a:t>
            </a:r>
            <a:r>
              <a:rPr lang="en-US" alt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FSD</a:t>
            </a:r>
            <a:endParaRPr lang="en-US" altLang="ru-RU" sz="2600" u="none" strike="noStrike" dirty="0" smtClean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</a:endParaRPr>
          </a:p>
        </p:txBody>
      </p:sp>
      <p:pic>
        <p:nvPicPr>
          <p:cNvPr id="2" name="Picture 1" descr="2026-08-24_02h10_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105" y="2205355"/>
            <a:ext cx="5416550" cy="41497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Rectangles 2"/>
          <p:cNvSpPr/>
          <p:nvPr/>
        </p:nvSpPr>
        <p:spPr>
          <a:xfrm>
            <a:off x="2927985" y="2853055"/>
            <a:ext cx="1151890" cy="180022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5" name="Rectangles 4"/>
          <p:cNvSpPr/>
          <p:nvPr/>
        </p:nvSpPr>
        <p:spPr>
          <a:xfrm>
            <a:off x="5160010" y="2855595"/>
            <a:ext cx="150495" cy="2133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" name="Rectangles 5"/>
          <p:cNvSpPr/>
          <p:nvPr/>
        </p:nvSpPr>
        <p:spPr>
          <a:xfrm>
            <a:off x="4307205" y="4283075"/>
            <a:ext cx="638810" cy="3390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" name="Rectangles 6"/>
          <p:cNvSpPr/>
          <p:nvPr/>
        </p:nvSpPr>
        <p:spPr>
          <a:xfrm>
            <a:off x="2639695" y="2781300"/>
            <a:ext cx="5907405" cy="35737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cxnSp>
        <p:nvCxnSpPr>
          <p:cNvPr id="9" name="Elbow Connector 8"/>
          <p:cNvCxnSpPr/>
          <p:nvPr>
            <p:custDataLst>
              <p:tags r:id="rId4"/>
            </p:custDataLst>
          </p:nvPr>
        </p:nvCxnSpPr>
        <p:spPr>
          <a:xfrm>
            <a:off x="1905635" y="2924810"/>
            <a:ext cx="734060" cy="431800"/>
          </a:xfrm>
          <a:prstGeom prst="bentConnector3">
            <a:avLst>
              <a:gd name="adj1" fmla="val 50087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Elbow Connector 9"/>
          <p:cNvCxnSpPr/>
          <p:nvPr>
            <p:custDataLst>
              <p:tags r:id="rId5"/>
            </p:custDataLst>
          </p:nvPr>
        </p:nvCxnSpPr>
        <p:spPr>
          <a:xfrm>
            <a:off x="2193925" y="4004945"/>
            <a:ext cx="734060" cy="431800"/>
          </a:xfrm>
          <a:prstGeom prst="bentConnector3">
            <a:avLst>
              <a:gd name="adj1" fmla="val 50087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6" idx="3"/>
          </p:cNvCxnSpPr>
          <p:nvPr/>
        </p:nvCxnSpPr>
        <p:spPr>
          <a:xfrm rot="10800000" flipV="1">
            <a:off x="4946015" y="3788410"/>
            <a:ext cx="862330" cy="66357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endCxn id="5" idx="2"/>
          </p:cNvCxnSpPr>
          <p:nvPr/>
        </p:nvCxnSpPr>
        <p:spPr>
          <a:xfrm rot="10800000">
            <a:off x="5234940" y="3068320"/>
            <a:ext cx="479425" cy="27368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>
            <p:custDataLst>
              <p:tags r:id="rId6"/>
            </p:custDataLst>
          </p:nvPr>
        </p:nvSpPr>
        <p:spPr>
          <a:xfrm>
            <a:off x="955675" y="2729230"/>
            <a:ext cx="1232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Widget</a:t>
            </a:r>
            <a:endParaRPr lang="en-US" altLang="en-GB"/>
          </a:p>
        </p:txBody>
      </p:sp>
      <p:sp>
        <p:nvSpPr>
          <p:cNvPr id="16" name="Text Box 15"/>
          <p:cNvSpPr txBox="1"/>
          <p:nvPr>
            <p:custDataLst>
              <p:tags r:id="rId7"/>
            </p:custDataLst>
          </p:nvPr>
        </p:nvSpPr>
        <p:spPr>
          <a:xfrm>
            <a:off x="1271270" y="3861435"/>
            <a:ext cx="800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Entity</a:t>
            </a:r>
            <a:endParaRPr lang="en-US" altLang="en-GB"/>
          </a:p>
        </p:txBody>
      </p:sp>
      <p:sp>
        <p:nvSpPr>
          <p:cNvPr id="17" name="Text Box 16"/>
          <p:cNvSpPr txBox="1"/>
          <p:nvPr>
            <p:custDataLst>
              <p:tags r:id="rId8"/>
            </p:custDataLst>
          </p:nvPr>
        </p:nvSpPr>
        <p:spPr>
          <a:xfrm>
            <a:off x="5735955" y="3141345"/>
            <a:ext cx="1135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Feature</a:t>
            </a:r>
            <a:endParaRPr lang="en-US" altLang="en-GB"/>
          </a:p>
        </p:txBody>
      </p:sp>
      <p:sp>
        <p:nvSpPr>
          <p:cNvPr id="18" name="Text Box 17"/>
          <p:cNvSpPr txBox="1"/>
          <p:nvPr>
            <p:custDataLst>
              <p:tags r:id="rId9"/>
            </p:custDataLst>
          </p:nvPr>
        </p:nvSpPr>
        <p:spPr>
          <a:xfrm>
            <a:off x="5807710" y="3568700"/>
            <a:ext cx="1135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Feature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1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2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11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alt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Оптимизация рендеринга</a:t>
            </a:r>
            <a:r>
              <a:rPr lang="en-US" alt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 </a:t>
            </a:r>
            <a:endParaRPr lang="ru-RU" altLang="ru-RU" sz="2600" u="none" strike="noStrike" dirty="0" smtClean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</a:endParaRPr>
          </a:p>
        </p:txBody>
      </p:sp>
      <p:pic>
        <p:nvPicPr>
          <p:cNvPr id="2" name="Picture 1" descr="2026-08-21_22h13_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" y="2492375"/>
            <a:ext cx="4636770" cy="2216785"/>
          </a:xfrm>
          <a:prstGeom prst="rect">
            <a:avLst/>
          </a:prstGeom>
        </p:spPr>
      </p:pic>
      <p:pic>
        <p:nvPicPr>
          <p:cNvPr id="3" name="Picture 2" descr="2026-08-21_22h16_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810" y="2492375"/>
            <a:ext cx="4699000" cy="2245995"/>
          </a:xfrm>
          <a:prstGeom prst="rect">
            <a:avLst/>
          </a:prstGeom>
        </p:spPr>
      </p:pic>
      <p:pic>
        <p:nvPicPr>
          <p:cNvPr id="5" name="Picture 4" descr="2026-08-21_22h16_19"/>
          <p:cNvPicPr>
            <a:picLocks noChangeAspect="1"/>
          </p:cNvPicPr>
          <p:nvPr/>
        </p:nvPicPr>
        <p:blipFill>
          <a:blip r:embed="rId4"/>
          <a:srcRect l="53635" t="35284" r="15716" b="32655"/>
          <a:stretch>
            <a:fillRect/>
          </a:stretch>
        </p:blipFill>
        <p:spPr>
          <a:xfrm>
            <a:off x="6743700" y="5085080"/>
            <a:ext cx="3075940" cy="1537970"/>
          </a:xfrm>
          <a:prstGeom prst="rect">
            <a:avLst/>
          </a:prstGeom>
        </p:spPr>
      </p:pic>
      <p:pic>
        <p:nvPicPr>
          <p:cNvPr id="6" name="Picture 5" descr="2026-08-21_22h13_12"/>
          <p:cNvPicPr>
            <a:picLocks noChangeAspect="1"/>
          </p:cNvPicPr>
          <p:nvPr/>
        </p:nvPicPr>
        <p:blipFill>
          <a:blip r:embed="rId3"/>
          <a:srcRect l="53177" t="34873" r="14249" b="37496"/>
          <a:stretch>
            <a:fillRect/>
          </a:stretch>
        </p:blipFill>
        <p:spPr>
          <a:xfrm>
            <a:off x="1271270" y="5156835"/>
            <a:ext cx="3024505" cy="122682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795780" y="4839335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GB"/>
              <a:t>До</a:t>
            </a:r>
            <a:endParaRPr lang="ru-RU" altLang="en-GB"/>
          </a:p>
        </p:txBody>
      </p:sp>
      <p:sp>
        <p:nvSpPr>
          <p:cNvPr id="8" name="Text Box 7"/>
          <p:cNvSpPr txBox="1"/>
          <p:nvPr/>
        </p:nvSpPr>
        <p:spPr>
          <a:xfrm>
            <a:off x="7220585" y="4796790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GB"/>
              <a:t>После</a:t>
            </a:r>
            <a:endParaRPr lang="ru-RU" altLang="en-GB"/>
          </a:p>
        </p:txBody>
      </p:sp>
      <p:sp>
        <p:nvSpPr>
          <p:cNvPr id="9" name="Text Box 8"/>
          <p:cNvSpPr txBox="1"/>
          <p:nvPr/>
        </p:nvSpPr>
        <p:spPr>
          <a:xfrm>
            <a:off x="622935" y="2098040"/>
            <a:ext cx="6655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1400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+mn-ea"/>
              </a:rPr>
              <a:t>при подгрузке карточек по скроллу</a:t>
            </a:r>
            <a:endParaRPr lang="ru-RU" altLang="ru-RU" sz="1400" u="none" strike="noStrike" dirty="0" smtClean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</a:endParaRPr>
          </a:p>
          <a:p>
            <a:endParaRPr lang="en-GB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1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2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11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alt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Оптимизация рендеринга</a:t>
            </a:r>
            <a:r>
              <a:rPr lang="en-US" alt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 </a:t>
            </a:r>
            <a:endParaRPr lang="ru-RU" altLang="ru-RU" sz="2600" u="none" strike="noStrike" dirty="0" smtClean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795780" y="4869180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GB"/>
              <a:t>До</a:t>
            </a:r>
            <a:endParaRPr lang="ru-RU" altLang="en-GB"/>
          </a:p>
        </p:txBody>
      </p:sp>
      <p:sp>
        <p:nvSpPr>
          <p:cNvPr id="8" name="Text Box 7"/>
          <p:cNvSpPr txBox="1"/>
          <p:nvPr/>
        </p:nvSpPr>
        <p:spPr>
          <a:xfrm>
            <a:off x="7247890" y="4869180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GB"/>
              <a:t>После</a:t>
            </a:r>
            <a:endParaRPr lang="ru-RU" altLang="en-GB"/>
          </a:p>
        </p:txBody>
      </p:sp>
      <p:sp>
        <p:nvSpPr>
          <p:cNvPr id="9" name="Text Box 8"/>
          <p:cNvSpPr txBox="1"/>
          <p:nvPr/>
        </p:nvSpPr>
        <p:spPr>
          <a:xfrm>
            <a:off x="622935" y="2098040"/>
            <a:ext cx="66554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1400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+mn-ea"/>
              </a:rPr>
              <a:t>при добавлении товара в корзину</a:t>
            </a:r>
            <a:endParaRPr lang="en-GB" altLang="en-US" sz="1400"/>
          </a:p>
        </p:txBody>
      </p:sp>
      <p:pic>
        <p:nvPicPr>
          <p:cNvPr id="4" name="Picture 3" descr="2026-08-21_22h11_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2493010"/>
            <a:ext cx="4719955" cy="2407285"/>
          </a:xfrm>
          <a:prstGeom prst="rect">
            <a:avLst/>
          </a:prstGeom>
        </p:spPr>
      </p:pic>
      <p:pic>
        <p:nvPicPr>
          <p:cNvPr id="10" name="Picture 9" descr="2026-08-21_22h17_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0" y="2492375"/>
            <a:ext cx="4721860" cy="2407920"/>
          </a:xfrm>
          <a:prstGeom prst="rect">
            <a:avLst/>
          </a:prstGeom>
        </p:spPr>
      </p:pic>
      <p:pic>
        <p:nvPicPr>
          <p:cNvPr id="11" name="Picture 10" descr="2026-08-21_22h11_41"/>
          <p:cNvPicPr>
            <a:picLocks noChangeAspect="1"/>
          </p:cNvPicPr>
          <p:nvPr/>
        </p:nvPicPr>
        <p:blipFill>
          <a:blip r:embed="rId3"/>
          <a:srcRect l="67304" t="35954" r="24536" b="57049"/>
          <a:stretch>
            <a:fillRect/>
          </a:stretch>
        </p:blipFill>
        <p:spPr>
          <a:xfrm>
            <a:off x="982980" y="5237480"/>
            <a:ext cx="2962275" cy="1296035"/>
          </a:xfrm>
          <a:prstGeom prst="rect">
            <a:avLst/>
          </a:prstGeom>
        </p:spPr>
      </p:pic>
      <p:pic>
        <p:nvPicPr>
          <p:cNvPr id="12" name="Picture 11" descr="2026-08-21_22h17_01"/>
          <p:cNvPicPr>
            <a:picLocks noChangeAspect="1"/>
          </p:cNvPicPr>
          <p:nvPr/>
        </p:nvPicPr>
        <p:blipFill>
          <a:blip r:embed="rId4"/>
          <a:srcRect l="68109" t="36913" r="22050" b="54636"/>
          <a:stretch>
            <a:fillRect/>
          </a:stretch>
        </p:blipFill>
        <p:spPr>
          <a:xfrm>
            <a:off x="6311900" y="5207000"/>
            <a:ext cx="2447925" cy="1071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1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2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11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alt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Оптимизация рендеринга</a:t>
            </a:r>
            <a:r>
              <a:rPr lang="en-US" alt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 </a:t>
            </a:r>
            <a:endParaRPr lang="ru-RU" altLang="ru-RU" sz="2600" u="none" strike="noStrike" dirty="0" smtClean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795780" y="4839335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GB"/>
              <a:t>До</a:t>
            </a:r>
            <a:endParaRPr lang="ru-RU" altLang="en-GB"/>
          </a:p>
        </p:txBody>
      </p:sp>
      <p:sp>
        <p:nvSpPr>
          <p:cNvPr id="8" name="Text Box 7"/>
          <p:cNvSpPr txBox="1"/>
          <p:nvPr/>
        </p:nvSpPr>
        <p:spPr>
          <a:xfrm>
            <a:off x="7247890" y="4869180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GB"/>
              <a:t>После</a:t>
            </a:r>
            <a:endParaRPr lang="ru-RU" altLang="en-GB"/>
          </a:p>
        </p:txBody>
      </p:sp>
      <p:sp>
        <p:nvSpPr>
          <p:cNvPr id="9" name="Text Box 8"/>
          <p:cNvSpPr txBox="1"/>
          <p:nvPr/>
        </p:nvSpPr>
        <p:spPr>
          <a:xfrm>
            <a:off x="622935" y="2098040"/>
            <a:ext cx="66554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1400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+mn-ea"/>
              </a:rPr>
              <a:t>при редактировании количесва в корзине</a:t>
            </a:r>
            <a:endParaRPr lang="en-GB" altLang="en-US" sz="1400"/>
          </a:p>
        </p:txBody>
      </p:sp>
      <p:pic>
        <p:nvPicPr>
          <p:cNvPr id="2" name="Picture 1" descr="2026-08-23_23h02_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05" y="2493010"/>
            <a:ext cx="4789170" cy="2265680"/>
          </a:xfrm>
          <a:prstGeom prst="rect">
            <a:avLst/>
          </a:prstGeom>
        </p:spPr>
      </p:pic>
      <p:pic>
        <p:nvPicPr>
          <p:cNvPr id="3" name="Picture 2" descr="2026-08-23_23h20_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855" y="2493010"/>
            <a:ext cx="4742180" cy="2242820"/>
          </a:xfrm>
          <a:prstGeom prst="rect">
            <a:avLst/>
          </a:prstGeom>
        </p:spPr>
      </p:pic>
      <p:pic>
        <p:nvPicPr>
          <p:cNvPr id="5" name="Picture 4" descr="2026-08-23_23h02_29"/>
          <p:cNvPicPr>
            <a:picLocks noChangeAspect="1"/>
          </p:cNvPicPr>
          <p:nvPr/>
        </p:nvPicPr>
        <p:blipFill>
          <a:blip r:embed="rId3"/>
          <a:srcRect l="52068" t="42550" r="22032" b="45235"/>
          <a:stretch>
            <a:fillRect/>
          </a:stretch>
        </p:blipFill>
        <p:spPr>
          <a:xfrm>
            <a:off x="695325" y="5300980"/>
            <a:ext cx="4530090" cy="1010920"/>
          </a:xfrm>
          <a:prstGeom prst="rect">
            <a:avLst/>
          </a:prstGeom>
        </p:spPr>
      </p:pic>
      <p:pic>
        <p:nvPicPr>
          <p:cNvPr id="6" name="Picture 5" descr="2026-08-23_23h20_58"/>
          <p:cNvPicPr>
            <a:picLocks noChangeAspect="1"/>
          </p:cNvPicPr>
          <p:nvPr/>
        </p:nvPicPr>
        <p:blipFill>
          <a:blip r:embed="rId4"/>
          <a:srcRect l="50469" t="42497" r="19162" b="38250"/>
          <a:stretch>
            <a:fillRect/>
          </a:stretch>
        </p:blipFill>
        <p:spPr>
          <a:xfrm>
            <a:off x="6239510" y="5300980"/>
            <a:ext cx="4537075" cy="1360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1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2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11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Работа с </a:t>
            </a:r>
            <a:r>
              <a:rPr lang="en-US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React Portal</a:t>
            </a:r>
            <a:endParaRPr lang="en-US" sz="2600" u="none" strike="noStrike" dirty="0" smtClean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</a:endParaRPr>
          </a:p>
        </p:txBody>
      </p:sp>
      <p:pic>
        <p:nvPicPr>
          <p:cNvPr id="2" name="Picture 1" descr="2026-08-24_02h09_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495" y="2204720"/>
            <a:ext cx="6184900" cy="4461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1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2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11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React19 UseOptimistic</a:t>
            </a:r>
            <a:endParaRPr lang="en-US" sz="2600" u="none" strike="noStrike" dirty="0" smtClean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</a:endParaRPr>
          </a:p>
        </p:txBody>
      </p:sp>
      <p:pic>
        <p:nvPicPr>
          <p:cNvPr id="2" name="Picture 1" descr="2026-08-24_02h10_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105" y="2205355"/>
            <a:ext cx="5416550" cy="41497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Rectangles 4"/>
          <p:cNvSpPr/>
          <p:nvPr/>
        </p:nvSpPr>
        <p:spPr>
          <a:xfrm>
            <a:off x="3791585" y="2853055"/>
            <a:ext cx="150495" cy="2133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cxnSp>
        <p:nvCxnSpPr>
          <p:cNvPr id="4" name="Straight Arrow Connector 3"/>
          <p:cNvCxnSpPr>
            <a:stCxn id="5" idx="1"/>
          </p:cNvCxnSpPr>
          <p:nvPr/>
        </p:nvCxnSpPr>
        <p:spPr>
          <a:xfrm flipH="1" flipV="1">
            <a:off x="2063115" y="2925445"/>
            <a:ext cx="1728470" cy="34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335280" y="2853055"/>
            <a:ext cx="19094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GB" sz="1400"/>
              <a:t>Состояние иконки меняется при клике, не дожидаясь ответа сервера</a:t>
            </a:r>
            <a:endParaRPr lang="ru-RU" altLang="en-GB" sz="1400"/>
          </a:p>
        </p:txBody>
      </p:sp>
      <p:cxnSp>
        <p:nvCxnSpPr>
          <p:cNvPr id="20" name="Elbow Connector 19"/>
          <p:cNvCxnSpPr>
            <a:endCxn id="5" idx="1"/>
          </p:cNvCxnSpPr>
          <p:nvPr/>
        </p:nvCxnSpPr>
        <p:spPr>
          <a:xfrm flipV="1">
            <a:off x="479425" y="2959735"/>
            <a:ext cx="3312160" cy="901700"/>
          </a:xfrm>
          <a:prstGeom prst="bentConnector3">
            <a:avLst>
              <a:gd name="adj1" fmla="val 50019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" name="Google Shape;73;p2"/>
          <p:cNvPicPr/>
          <p:nvPr/>
        </p:nvPicPr>
        <p:blipFill>
          <a:blip r:embed="rId1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74;p2"/>
          <p:cNvPicPr/>
          <p:nvPr/>
        </p:nvPicPr>
        <p:blipFill>
          <a:blip r:embed="rId2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75;p2"/>
          <p:cNvSpPr/>
          <p:nvPr/>
        </p:nvSpPr>
        <p:spPr bwMode="auto">
          <a:xfrm>
            <a:off x="522360" y="929879"/>
            <a:ext cx="1094796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>
                <a:solidFill>
                  <a:srgbClr val="082326"/>
                </a:solidFill>
                <a:latin typeface="Montserrat ExtraBold"/>
                <a:ea typeface="Montserrat ExtraBold"/>
              </a:rPr>
              <a:t>Shortlist кандидатов</a:t>
            </a:r>
            <a:endParaRPr lang="ru-RU" sz="2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" name="Google Shape;76;p2"/>
          <p:cNvSpPr/>
          <p:nvPr/>
        </p:nvSpPr>
        <p:spPr bwMode="auto">
          <a:xfrm>
            <a:off x="527400" y="1364040"/>
            <a:ext cx="109432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800" b="1" u="none" strike="noStrike">
                <a:solidFill>
                  <a:schemeClr val="dk1"/>
                </a:solidFill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lang="ru-RU" sz="18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6" name="Google Shape;77;p2"/>
          <p:cNvCxnSpPr/>
          <p:nvPr/>
        </p:nvCxnSpPr>
        <p:spPr bwMode="auto">
          <a:xfrm>
            <a:off x="0" y="34502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7" name="Google Shape;78;p2"/>
          <p:cNvCxnSpPr/>
          <p:nvPr/>
        </p:nvCxnSpPr>
        <p:spPr bwMode="auto">
          <a:xfrm>
            <a:off x="0" y="41630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9;p2"/>
          <p:cNvCxnSpPr/>
          <p:nvPr/>
        </p:nvCxnSpPr>
        <p:spPr bwMode="auto">
          <a:xfrm>
            <a:off x="0" y="48758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59" name="Google Shape;80;p2"/>
          <p:cNvSpPr/>
          <p:nvPr/>
        </p:nvSpPr>
        <p:spPr bwMode="auto">
          <a:xfrm>
            <a:off x="522360" y="2203200"/>
            <a:ext cx="200772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Название проекта</a:t>
            </a:r>
            <a:endParaRPr lang="ru-RU" sz="1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" name="Google Shape;81;p2"/>
          <p:cNvSpPr/>
          <p:nvPr/>
        </p:nvSpPr>
        <p:spPr bwMode="auto">
          <a:xfrm>
            <a:off x="4216680" y="2203200"/>
            <a:ext cx="270216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Какую бизнес-задачу решаем?</a:t>
            </a:r>
            <a:endParaRPr lang="ru-RU" sz="14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Google Shape;82;p2"/>
          <p:cNvSpPr/>
          <p:nvPr/>
        </p:nvSpPr>
        <p:spPr bwMode="auto">
          <a:xfrm>
            <a:off x="8605080" y="2203200"/>
            <a:ext cx="336024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Краткое описание </a:t>
            </a:r>
            <a:br>
              <a:rPr sz="1400"/>
            </a:br>
            <a:r>
              <a:rPr lang="ru-RU" sz="1200" b="1" u="none" strike="noStrike">
                <a:solidFill>
                  <a:schemeClr val="dk1"/>
                </a:solidFill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lang="ru-RU" sz="1200" b="0" u="none" strike="noStrike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2" name="Google Shape;83;p2"/>
          <p:cNvCxnSpPr/>
          <p:nvPr/>
        </p:nvCxnSpPr>
        <p:spPr bwMode="auto">
          <a:xfrm>
            <a:off x="87840" y="558828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3" name="Google Shape;84;p2"/>
          <p:cNvCxnSpPr/>
          <p:nvPr/>
        </p:nvCxnSpPr>
        <p:spPr bwMode="auto">
          <a:xfrm flipV="1">
            <a:off x="334548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5;p2"/>
          <p:cNvCxnSpPr/>
          <p:nvPr/>
        </p:nvCxnSpPr>
        <p:spPr bwMode="auto">
          <a:xfrm flipV="1">
            <a:off x="770400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5" name="Google Shape;86;p2"/>
          <p:cNvPicPr/>
          <p:nvPr/>
        </p:nvPicPr>
        <p:blipFill>
          <a:blip r:embed="rId3"/>
          <a:srcRect l="10" r="7"/>
          <a:stretch>
            <a:fillRect/>
          </a:stretch>
        </p:blipFill>
        <p:spPr bwMode="auto">
          <a:xfrm>
            <a:off x="1080" y="0"/>
            <a:ext cx="121892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 bwMode="auto">
          <a:xfrm>
            <a:off x="635040" y="1991160"/>
            <a:ext cx="8900279" cy="18189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5400" b="1" dirty="0" smtClean="0">
                <a:solidFill>
                  <a:srgbClr val="082326"/>
                </a:solidFill>
                <a:latin typeface="Montserrat"/>
                <a:ea typeface="Montserrat"/>
              </a:rPr>
              <a:t>Выводы</a:t>
            </a:r>
            <a:endParaRPr lang="ru-RU" sz="5400" b="0" u="none" strike="noStrike" dirty="0" smtClean="0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endParaRPr lang="ru-RU" sz="3600" b="0" u="none" strike="noStrike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1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2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9344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Выводы по итогу обучения по программе «</a:t>
            </a:r>
            <a:r>
              <a:rPr lang="ru-RU" sz="2800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</a:rPr>
              <a:t>на </a:t>
            </a:r>
            <a:r>
              <a:rPr lang="ru-RU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ReactJS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</a:rPr>
              <a:t>: продвинутый </a:t>
            </a:r>
            <a:r>
              <a:rPr lang="ru-RU" sz="2800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уровень»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7695" y="1971040"/>
            <a:ext cx="1005268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ru-RU" altLang="en-GB" sz="1600"/>
              <a:t>Архитектура и</a:t>
            </a:r>
            <a:r>
              <a:rPr lang="ru-RU" altLang="en-GB" sz="1600" b="1"/>
              <a:t> структура </a:t>
            </a:r>
            <a:r>
              <a:rPr lang="en-US" altLang="en-GB" sz="1600" b="1"/>
              <a:t>FSD</a:t>
            </a:r>
            <a:r>
              <a:rPr lang="ru-RU" altLang="en-US" sz="1600"/>
              <a:t> упрощает поддержку и масштабирование проекта за счет четкого разделения проекта на слои, изоляции функционала и организации импортов «сверху-вниз», исключения кросс-импортов и пропс-дриллинга.</a:t>
            </a:r>
            <a:endParaRPr lang="ru-RU" altLang="en-US" sz="1600"/>
          </a:p>
          <a:p>
            <a:pPr marL="342900" indent="-342900" fontAlgn="auto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ru-RU" altLang="en-US" sz="1600"/>
              <a:t>Использование </a:t>
            </a:r>
            <a:r>
              <a:rPr lang="en-US" altLang="en-US" sz="1600" b="1"/>
              <a:t>React</a:t>
            </a:r>
            <a:r>
              <a:rPr lang="ru-RU" altLang="en-US" sz="1600" b="1"/>
              <a:t> </a:t>
            </a:r>
            <a:r>
              <a:rPr lang="en-US" altLang="en-US" sz="1600" b="1"/>
              <a:t>Portal</a:t>
            </a:r>
            <a:r>
              <a:rPr lang="en-US" altLang="en-US" sz="1600"/>
              <a:t> </a:t>
            </a:r>
            <a:r>
              <a:rPr lang="ru-RU" altLang="en-US" sz="1600"/>
              <a:t>позволяет решать задачи, требующие отрисовки компонентов за пределами основного контейра</a:t>
            </a:r>
            <a:r>
              <a:rPr lang="en-US" altLang="ru-RU" sz="1600"/>
              <a:t> </a:t>
            </a:r>
            <a:r>
              <a:rPr lang="ru-RU" altLang="ru-RU" sz="1600"/>
              <a:t>и иерархии основного приложения, например, для отрисовки модальных окон, перекрывающих исходную страницу.</a:t>
            </a:r>
            <a:endParaRPr lang="ru-RU" altLang="ru-RU" sz="1600"/>
          </a:p>
          <a:p>
            <a:pPr marL="342900" indent="-342900" fontAlgn="auto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ru-RU" altLang="ru-RU" sz="1600"/>
              <a:t>Использование </a:t>
            </a:r>
            <a:r>
              <a:rPr lang="en-US" altLang="ru-RU" sz="1600" b="1"/>
              <a:t>useRef </a:t>
            </a:r>
            <a:r>
              <a:rPr lang="ru-RU" altLang="ru-RU" sz="1600"/>
              <a:t>позволяет сохранять данные между рендерами, при этом, в отличие от </a:t>
            </a:r>
            <a:r>
              <a:rPr lang="en-US" altLang="ru-RU" sz="1600"/>
              <a:t>useState</a:t>
            </a:r>
            <a:r>
              <a:rPr lang="ru-RU" altLang="ru-RU" sz="1600"/>
              <a:t>, изменение </a:t>
            </a:r>
            <a:r>
              <a:rPr lang="ru-RU" sz="1600"/>
              <a:t>значения </a:t>
            </a:r>
            <a:r>
              <a:rPr lang="en-US" altLang="en-GB" sz="1600"/>
              <a:t>RefObject </a:t>
            </a:r>
            <a:r>
              <a:rPr lang="ru-RU" altLang="en-US" sz="1600"/>
              <a:t>не</a:t>
            </a:r>
            <a:r>
              <a:rPr lang="en-US" altLang="ru-RU" sz="1600"/>
              <a:t> </a:t>
            </a:r>
            <a:r>
              <a:rPr lang="ru-RU" altLang="ru-RU" sz="1600"/>
              <a:t>запускает перерендер компонента.</a:t>
            </a:r>
            <a:endParaRPr lang="ru-RU" altLang="ru-RU" sz="1600"/>
          </a:p>
          <a:p>
            <a:pPr marL="342900" indent="-342900" fontAlgn="auto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ru-RU" altLang="ru-RU" sz="1600"/>
              <a:t>Использование альтернативных сборщиков (например </a:t>
            </a:r>
            <a:r>
              <a:rPr lang="en-US" altLang="ru-RU" sz="1600" b="1"/>
              <a:t>Esbuild</a:t>
            </a:r>
            <a:r>
              <a:rPr lang="ru-RU" altLang="ru-RU" sz="1600"/>
              <a:t>) может существенно уменьшить время сборки.</a:t>
            </a:r>
            <a:endParaRPr lang="ru-RU" altLang="en-US" sz="1600"/>
          </a:p>
          <a:p>
            <a:pPr marL="342900" indent="-342900" fontAlgn="auto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ru-RU" altLang="en-US" sz="1600"/>
              <a:t>В </a:t>
            </a:r>
            <a:r>
              <a:rPr lang="en-US" altLang="en-US" sz="1600" b="1"/>
              <a:t>React19 </a:t>
            </a:r>
            <a:r>
              <a:rPr lang="ru-RU" altLang="en-US" sz="1600"/>
              <a:t>появились новые хуки, предназначенные для улучшения работы интерфейса при работе с асинхронным функционалом. Они улучшают пользовательский опыт за счет более ясной обратной связи и незамедлительного изменения интерфейса, не дожидаясь выполнения асинхронной операции и ответа сервера.</a:t>
            </a:r>
            <a:endParaRPr lang="ru-RU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1"/>
          <a:srcRect t="183" b="183"/>
          <a:stretch>
            <a:fillRect/>
          </a:stretch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2"/>
          <a:srcRect t="1000" b="1001"/>
          <a:stretch>
            <a:fillRect/>
          </a:stretch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Списо</a:t>
            </a:r>
            <a:r>
              <a:rPr lang="ru-RU" sz="2800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к используемых источников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58190" y="1917065"/>
            <a:ext cx="9801860" cy="2607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en-GB"/>
              <a:t>https://react.dev</a:t>
            </a:r>
            <a:endParaRPr lang="en-US" altLang="en-GB"/>
          </a:p>
          <a:p>
            <a:pPr marL="342900" indent="-342900">
              <a:buAutoNum type="arabicPeriod"/>
            </a:pPr>
            <a:r>
              <a:rPr lang="en-US" altLang="en-GB"/>
              <a:t>https://esbuild.github.io/</a:t>
            </a:r>
            <a:endParaRPr lang="en-US" altLang="en-GB"/>
          </a:p>
          <a:p>
            <a:pPr marL="342900" indent="-342900">
              <a:buAutoNum type="arabicPeriod"/>
            </a:pPr>
            <a:r>
              <a:rPr lang="en-US" altLang="en-GB"/>
              <a:t>https://fsd.how/</a:t>
            </a:r>
            <a:endParaRPr lang="en-US" altLang="en-GB"/>
          </a:p>
          <a:p>
            <a:pPr/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2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3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4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5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6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7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8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9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10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11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12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13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14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15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16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17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18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19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20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21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22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23.xml><?xml version="1.0" encoding="utf-8"?>
<p:tagLst xmlns:p="http://schemas.openxmlformats.org/presentationml/2006/main">
  <p:tag name="KSO_WM_DIAGRAM_VIRTUALLY_FRAME" val="{&quot;height&quot;:342.55,&quot;left&quot;:37.75,&quot;top&quot;:167.95,&quot;width&quot;:859.4}"/>
</p:tagLst>
</file>

<file path=ppt/tags/tag24.xml><?xml version="1.0" encoding="utf-8"?>
<p:tagLst xmlns:p="http://schemas.openxmlformats.org/presentationml/2006/main">
  <p:tag name="KSO_WM_DIAGRAM_VIRTUALLY_FRAME" val="{&quot;height&quot;:134.45,&quot;left&quot;:71.75,&quot;top&quot;:214.9,&quot;width&quot;:158.8}"/>
</p:tagLst>
</file>

<file path=ppt/tags/tag25.xml><?xml version="1.0" encoding="utf-8"?>
<p:tagLst xmlns:p="http://schemas.openxmlformats.org/presentationml/2006/main">
  <p:tag name="KSO_WM_DIAGRAM_VIRTUALLY_FRAME" val="{&quot;height&quot;:134.45,&quot;left&quot;:71.75,&quot;top&quot;:214.9,&quot;width&quot;:158.8}"/>
</p:tagLst>
</file>

<file path=ppt/tags/tag26.xml><?xml version="1.0" encoding="utf-8"?>
<p:tagLst xmlns:p="http://schemas.openxmlformats.org/presentationml/2006/main">
  <p:tag name="KSO_WM_DIAGRAM_VIRTUALLY_FRAME" val="{&quot;height&quot;:134.45,&quot;left&quot;:71.75,&quot;top&quot;:214.9,&quot;width&quot;:158.8}"/>
</p:tagLst>
</file>

<file path=ppt/tags/tag27.xml><?xml version="1.0" encoding="utf-8"?>
<p:tagLst xmlns:p="http://schemas.openxmlformats.org/presentationml/2006/main">
  <p:tag name="KSO_WM_DIAGRAM_VIRTUALLY_FRAME" val="{&quot;height&quot;:134.45,&quot;left&quot;:71.75,&quot;top&quot;:214.9,&quot;width&quot;:158.8}"/>
</p:tagLst>
</file>

<file path=ppt/tags/tag28.xml><?xml version="1.0" encoding="utf-8"?>
<p:tagLst xmlns:p="http://schemas.openxmlformats.org/presentationml/2006/main">
  <p:tag name="KSO_WM_DIAGRAM_VIRTUALLY_FRAME" val="{&quot;height&quot;:134.45,&quot;left&quot;:71.75,&quot;top&quot;:214.9,&quot;width&quot;:158.8}"/>
</p:tagLst>
</file>

<file path=ppt/tags/tag29.xml><?xml version="1.0" encoding="utf-8"?>
<p:tagLst xmlns:p="http://schemas.openxmlformats.org/presentationml/2006/main">
  <p:tag name="KSO_WM_DIAGRAM_VIRTUALLY_FRAME" val="{&quot;height&quot;:134.45,&quot;left&quot;:71.75,&quot;top&quot;:214.9,&quot;width&quot;:158.8}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2379</Words>
  <Application>WPS Presentation</Application>
  <PresentationFormat>Широкоэкранный</PresentationFormat>
  <Paragraphs>116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SimSun</vt:lpstr>
      <vt:lpstr>Wingdings</vt:lpstr>
      <vt:lpstr>Arial</vt:lpstr>
      <vt:lpstr>Times New Roman</vt:lpstr>
      <vt:lpstr>Calibri</vt:lpstr>
      <vt:lpstr>Wingdings</vt:lpstr>
      <vt:lpstr>Symbol</vt:lpstr>
      <vt:lpstr>Montserrat ExtraBold</vt:lpstr>
      <vt:lpstr>Segoe Print</vt:lpstr>
      <vt:lpstr>Play</vt:lpstr>
      <vt:lpstr>Montserrat</vt:lpstr>
      <vt:lpstr>Montserrat SemiBold</vt:lpstr>
      <vt:lpstr>Montserrat ExtraLight</vt:lpstr>
      <vt:lpstr>SB Sans Display Regular</vt:lpstr>
      <vt:lpstr>Microsoft YaHei</vt:lpstr>
      <vt:lpstr>Arial Unicode MS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synkka synkka</dc:creator>
  <cp:lastModifiedBy>Cat</cp:lastModifiedBy>
  <cp:revision>24</cp:revision>
  <dcterms:created xsi:type="dcterms:W3CDTF">2022-04-05T09:52:00Z</dcterms:created>
  <dcterms:modified xsi:type="dcterms:W3CDTF">2026-08-23T23:26:29Z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2057-12.2.0.23206</vt:lpwstr>
  </property>
  <property fmtid="{D5CDD505-2E9C-101B-9397-08002B2CF9AE}" pid="3" name="ICV">
    <vt:lpwstr>A5FDEE50B61E4B2590947C40E2BB012A_12</vt:lpwstr>
  </property>
</Properties>
</file>